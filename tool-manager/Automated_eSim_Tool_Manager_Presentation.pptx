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4223A"/>
                </a:solidFill>
              </a:defRPr>
            </a:pPr>
            <a:r>
              <a:t>Automated eSim Tool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2316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F6973"/>
                </a:solidFill>
              </a:defRPr>
            </a:pPr>
            <a:r>
              <a:t>A declarative, cross-platform lifecycle manager for the eSim external toolchain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840480"/>
            <a:ext cx="7406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2A60AA"/>
                </a:solidFill>
              </a:defRPr>
            </a:pPr>
            <a:r>
              <a:t>Screening Task 5 • Proof of Concept • v1.0.0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Automated eSim Tool Manager • Screening Task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23A"/>
                </a:solidFill>
              </a:defRPr>
            </a:pPr>
            <a:r>
              <a:t>Problem we are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External tools create a lifecycle-management problem, not just an installation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eSim depends on external programs with different installation mechanisms across operating systems.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A tool can be installed but still be unusable because the version is incompatible or the executable is not discoverable.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Some capabilities are optional or composite: NGHDL involves GHDL, Verilator and Ngspice; OpenModelica is a separate workflow.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The manager therefore needs detection, policy, dependency resolution, safe execution, verification and configuration.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Automated eSim Tool Manager • Screening Task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23A"/>
                </a:solidFill>
              </a:defRPr>
            </a:pPr>
            <a:r>
              <a:t>What repository analysis revealed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The upstream eSim repository is the source of the toolchain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103120" cy="640080"/>
          </a:xfrm>
          <a:prstGeom prst="roundRect">
            <a:avLst/>
          </a:prstGeom>
          <a:solidFill>
            <a:srgbClr val="14223A"/>
          </a:solidFill>
          <a:ln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325880"/>
            <a:ext cx="7863840" cy="640080"/>
          </a:xfrm>
          <a:prstGeom prst="roundRect">
            <a:avLst/>
          </a:prstGeom>
          <a:solidFill>
            <a:srgbClr val="F2F6FA"/>
          </a:solidFill>
          <a:ln>
            <a:solidFill>
              <a:srgbClr val="2A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232323"/>
                </a:solidFill>
              </a:defRPr>
            </a:pPr>
            <a:r>
              <a:t>KiCad • Ngspice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39"/>
            <a:ext cx="2103120" cy="640080"/>
          </a:xfrm>
          <a:prstGeom prst="roundRect">
            <a:avLst/>
          </a:prstGeom>
          <a:solidFill>
            <a:srgbClr val="14223A"/>
          </a:solidFill>
          <a:ln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Mixed-signal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377439"/>
            <a:ext cx="7863840" cy="640080"/>
          </a:xfrm>
          <a:prstGeom prst="roundRect">
            <a:avLst/>
          </a:prstGeom>
          <a:solidFill>
            <a:srgbClr val="F2F6FA"/>
          </a:solidFill>
          <a:ln>
            <a:solidFill>
              <a:srgbClr val="2A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232323"/>
                </a:solidFill>
              </a:defRPr>
            </a:pPr>
            <a:r>
              <a:t>NGHDL → GHDL + Verilator + Ngspice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2103120" cy="640080"/>
          </a:xfrm>
          <a:prstGeom prst="roundRect">
            <a:avLst/>
          </a:prstGeom>
          <a:solidFill>
            <a:srgbClr val="14223A"/>
          </a:solidFill>
          <a:ln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Optional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3429000"/>
            <a:ext cx="7863840" cy="640080"/>
          </a:xfrm>
          <a:prstGeom prst="roundRect">
            <a:avLst/>
          </a:prstGeom>
          <a:solidFill>
            <a:srgbClr val="F2F6FA"/>
          </a:solidFill>
          <a:ln>
            <a:solidFill>
              <a:srgbClr val="2A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232323"/>
                </a:solidFill>
              </a:defRPr>
            </a:pPr>
            <a:r>
              <a:t>OpenModelica / IHP flows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59"/>
            <a:ext cx="2103120" cy="640080"/>
          </a:xfrm>
          <a:prstGeom prst="roundRect">
            <a:avLst/>
          </a:prstGeom>
          <a:solidFill>
            <a:srgbClr val="14223A"/>
          </a:solidFill>
          <a:ln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Installation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4480559"/>
            <a:ext cx="7863840" cy="640080"/>
          </a:xfrm>
          <a:prstGeom prst="roundRect">
            <a:avLst/>
          </a:prstGeom>
          <a:solidFill>
            <a:srgbClr val="F2F6FA"/>
          </a:solidFill>
          <a:ln>
            <a:solidFill>
              <a:srgbClr val="2A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232323"/>
                </a:solidFill>
              </a:defRPr>
            </a:pPr>
            <a:r>
              <a:t>Native installer • Flatpak • Windows installer • 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Automated eSim Tool Manager • Screening Task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23A"/>
                </a:solidFill>
              </a:defRPr>
            </a:pPr>
            <a: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920240"/>
            <a:ext cx="182880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2A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A60AA"/>
                </a:solidFill>
              </a:defRPr>
            </a:pPr>
            <a:r>
              <a:t>CLI / Future GUI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920240"/>
            <a:ext cx="182880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23A"/>
                </a:solidFill>
              </a:defRPr>
            </a:pPr>
            <a:r>
              <a:t>Manager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1097280"/>
            <a:ext cx="182880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2A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A825A"/>
                </a:solidFill>
              </a:defRPr>
            </a:pPr>
            <a:r>
              <a:t>Detector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920240"/>
            <a:ext cx="182880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2A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A825A"/>
                </a:solidFill>
              </a:defRPr>
            </a:pPr>
            <a:r>
              <a:t>Resolver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2743200"/>
            <a:ext cx="182880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2A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A825A"/>
                </a:solidFill>
              </a:defRPr>
            </a:pPr>
            <a:r>
              <a:t>Planner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097280"/>
            <a:ext cx="182880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C8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8821E"/>
                </a:solidFill>
              </a:defRPr>
            </a:pPr>
            <a:r>
              <a:t>APT / DNF / Pacman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920240"/>
            <a:ext cx="182880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C8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8821E"/>
                </a:solidFill>
              </a:defRPr>
            </a:pPr>
            <a:r>
              <a:t>WinGet / Choco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743200"/>
            <a:ext cx="182880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C8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8821E"/>
                </a:solidFill>
              </a:defRPr>
            </a:pPr>
            <a:r>
              <a:t>Homebrew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1920240"/>
            <a:ext cx="164592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23A"/>
                </a:solidFill>
              </a:defRPr>
            </a:pPr>
            <a:r>
              <a:t>Verify + Audit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68880" y="2267712"/>
            <a:ext cx="457200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80" y="2267712"/>
            <a:ext cx="457200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80" y="2267712"/>
            <a:ext cx="548640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418320" y="2267712"/>
            <a:ext cx="365760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384048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4223A"/>
                </a:solidFill>
              </a:defRPr>
            </a:pPr>
            <a:r>
              <a:t>Design principle: separate desired-state policy from platform-specific execution.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Automated eSim Tool Manager • Screening Task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23A"/>
                </a:solidFill>
              </a:defRPr>
            </a:pPr>
            <a:r>
              <a:t>Capability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2A825A"/>
                </a:solidFill>
              </a:defRPr>
            </a:pPr>
            <a:r>
              <a:t>R1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2344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23A"/>
                </a:solidFill>
              </a:defRPr>
            </a:pPr>
            <a:r>
              <a:t>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234440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Platform adapters, version policy, post-install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2A825A"/>
                </a:solidFill>
              </a:defRPr>
            </a:pPr>
            <a:r>
              <a:t>R2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8424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23A"/>
                </a:solidFill>
              </a:defRPr>
            </a:pPr>
            <a:r>
              <a:t>Updates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9842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Package-manager-specific update probes and upgrade commands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34056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2A825A"/>
                </a:solidFill>
              </a:defRPr>
            </a:pPr>
            <a:r>
              <a:t>R3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34056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23A"/>
                </a:solidFill>
              </a:defRPr>
            </a:pPr>
            <a:r>
              <a:t>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734056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Tool paths, environment files, persisted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83864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2A825A"/>
                </a:solidFill>
              </a:defRPr>
            </a:pPr>
            <a:r>
              <a:t>R4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83864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23A"/>
                </a:solidFill>
              </a:defRPr>
            </a:pPr>
            <a:r>
              <a:t>Dependencies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483864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Graph ordering, cycle detection, doctor 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33672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2A825A"/>
                </a:solidFill>
              </a:defRPr>
            </a:pPr>
            <a:r>
              <a:t>R5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23367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23A"/>
                </a:solidFill>
              </a:defRPr>
            </a:pPr>
            <a:r>
              <a:t>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23367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CLI, JSON mode, audit logs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83479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2A60AA"/>
                </a:solidFill>
              </a:defRPr>
            </a:pPr>
            <a:r>
              <a:t>R6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983479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23A"/>
                </a:solidFill>
              </a:defRPr>
            </a:pPr>
            <a:r>
              <a:t>Additional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983479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Linux/Windows/macOS adapter architecture + 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Automated eSim Tool Manager • Screening Task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23A"/>
                </a:solidFill>
              </a:defRPr>
            </a:pPr>
            <a:r>
              <a:t>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The prototype is safest and clearest when shown as a reconciliation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1. `doctor` — inspect the real environment and report missing/incompatible tools.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2. `plan` / dry-run install — show exact package-manager commands without changing the machine.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3. `install --execute` — perform the change only when explicitly requested.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4. Re-run `doctor` — verify executable + version policy after mutation.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5. `configure` — generate machine-readable and shell-specific environment files.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6. `logs` — inspect the JSONL audit trail.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Automated eSim Tool Manager • Screening Task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23A"/>
                </a:solidFill>
              </a:defRPr>
            </a:pPr>
            <a:r>
              <a:t>Safety &amp; engineering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Dry-run is the default; system mutation requires `--execute`.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Commands are argument arrays passed to subprocesses; unnecessary shell interpolation is avoided.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Exact package IDs are stored in the manifest instead of fuzzy package searches.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Installation/update is followed by executable/version verification.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JSON output allows future GUI/CI clients to consume the same service layer.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JSONL audit events make actions inspectable and reproducible.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Automated eSim Tool Manager • Screening Task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23A"/>
                </a:solidFill>
              </a:defRPr>
            </a:pPr>
            <a:r>
              <a:t>What is intentionally not claimed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This is a screening-task proof of concept, not a production replacement for the evolving upstream eSim Tool Manager.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Full GHDL/LLVM compatibility reasoning is a future extension; the upstream issue tracker documents real examples of this class of failure.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Universal rollback across all package managers is not implemented.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Every package ID still needs live validation on the target host/package registry.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macOS adapter support is a manager capability; native eSim distribution/support must be aligned with upstream documentation.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Automated eSim Tool Manager • Screening Task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23A"/>
                </a:solidFill>
              </a:defRPr>
            </a:pPr>
            <a:r>
              <a:t>Next production 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These extensions follow directly from repository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Capability/dependency graph with NGHDL as a first-class composite capability.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eSim-release ↔ tool-version compatibility matrix.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Lock files for reproducible, validated toolchains.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Source-build adapters and artifact hash/signature verification.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Package-manager-aware rollback / transaction state.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Qt GUI over the same manager service and direct upstream eSim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Automated eSim Tool Manager • Screening Task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23A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The prototype turns external-tool management into an explicit, testable lifecycle.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241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4223A"/>
                </a:solidFill>
              </a:defRPr>
            </a:pPr>
            <a:r>
              <a:t>Desired state:  What eSim needs</a:t>
            </a:r>
          </a:p>
          <a:p>
            <a:pPr>
              <a:spcAft>
                <a:spcPts val="1200"/>
              </a:spcAft>
              <a:defRPr sz="2000" b="0">
                <a:solidFill>
                  <a:srgbClr val="232323"/>
                </a:solidFill>
              </a:defRPr>
            </a:pPr>
            <a:r>
              <a:t>Observed state:  What the machine has</a:t>
            </a:r>
          </a:p>
          <a:p>
            <a:pPr>
              <a:spcAft>
                <a:spcPts val="1200"/>
              </a:spcAft>
              <a:defRPr sz="2000" b="0">
                <a:solidFill>
                  <a:srgbClr val="232323"/>
                </a:solidFill>
              </a:defRPr>
            </a:pPr>
            <a:r>
              <a:t>Reconciliation:  What must change</a:t>
            </a:r>
          </a:p>
          <a:p>
            <a:pPr>
              <a:spcAft>
                <a:spcPts val="1200"/>
              </a:spcAft>
              <a:defRPr sz="2000" b="0">
                <a:solidFill>
                  <a:srgbClr val="232323"/>
                </a:solidFill>
              </a:defRPr>
            </a:pPr>
            <a:r>
              <a:t>Verification:  Whether the change actually worked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89204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A825A"/>
                </a:solidFill>
              </a:defRPr>
            </a:pPr>
            <a:r>
              <a:t>The result is a maintainable control plane rather than a one-off installation script.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Automated eSim Tool Manager • Screening Task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